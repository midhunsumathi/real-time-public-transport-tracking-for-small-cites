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0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4C1D95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6D28D9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5" name="Image 0" descr="icons/bu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103693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2026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19456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Public Transport Tracking</a:t>
            </a:r>
            <a:endParaRPr lang="en-US" sz="4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Small Cities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GPS-based bus tracking with ML-powered delay prediction, built for the needs of tier-2 and tier-3 city transit systems.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4892040"/>
            <a:ext cx="2926080" cy="0"/>
          </a:xfrm>
          <a:prstGeom prst="line">
            <a:avLst/>
          </a:prstGeom>
          <a:noFill/>
          <a:ln w="12700">
            <a:solidFill>
              <a:srgbClr val="5B21B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0749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9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V.S.B Engineering College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9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Artificial Intelligence and Machine Learning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9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by: MIDHUN 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small cities struggle with public transport visibility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3EEFC"/>
          </a:solidFill>
          <a:ln/>
          <a:effectLst>
            <a:outerShdw sx="100000" sy="100000" kx="0" ky="0" algn="bl" rotWithShape="0" blurRad="127000" dist="38100" dir="5400000">
              <a:srgbClr val="3B076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777240" cy="77724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6" name="Image 0" descr="icons/warn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" y="239664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2004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Real-Time Visibility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79476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Commuters in small cities have no way to know where their bus actually is, leading to long, uncertain waits.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97680" y="182880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3EEFC"/>
          </a:solidFill>
          <a:ln/>
          <a:effectLst>
            <a:outerShdw sx="100000" sy="100000" kx="0" ky="0" algn="bl" rotWithShape="0" blurRad="127000" dist="38100" dir="5400000">
              <a:srgbClr val="3B076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2194560"/>
            <a:ext cx="777240" cy="77724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1" name="Image 1" descr="icons/c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802" y="239664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2004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Unpredictable Delays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17720" y="379476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Traffic, weather, and route conditions cause delays with zero advance warning to passengers.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182880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3EEFC"/>
          </a:solidFill>
          <a:ln/>
          <a:effectLst>
            <a:outerShdw sx="100000" sy="100000" kx="0" ky="0" algn="bl" rotWithShape="0" blurRad="127000" dist="38100" dir="5400000">
              <a:srgbClr val="3B0764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2194560"/>
            <a:ext cx="777240" cy="77724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6" name="Image 2" descr="icons/clou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8842" y="239664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32004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Infrastructure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66760" y="379476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Big-city tracking apps rely on costly infrastructure that small municipal transport systems cannot afford.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Public Transport Tracking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system aims to deliver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3EE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80260"/>
            <a:ext cx="731520" cy="73152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6" name="Image 0" descr="icons/targ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435" y="227045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38528"/>
            <a:ext cx="402336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location tracking of buses using GPS coordinates on an interactive map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0" y="182880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3EEFC"/>
          </a:solidFill>
          <a:ln/>
        </p:spPr>
      </p:sp>
      <p:sp>
        <p:nvSpPr>
          <p:cNvPr id="9" name="Shape 6"/>
          <p:cNvSpPr/>
          <p:nvPr/>
        </p:nvSpPr>
        <p:spPr>
          <a:xfrm>
            <a:off x="6629400" y="2080260"/>
            <a:ext cx="731520" cy="73152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0" name="Image 1" descr="icons/bra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9595" y="2270455"/>
            <a:ext cx="351130" cy="3511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43800" y="1938528"/>
            <a:ext cx="402336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delays in advance using a trained machine learning model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3756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3EEFC"/>
          </a:solidFill>
          <a:ln/>
        </p:spPr>
      </p:sp>
      <p:sp>
        <p:nvSpPr>
          <p:cNvPr id="13" name="Shape 9"/>
          <p:cNvSpPr/>
          <p:nvPr/>
        </p:nvSpPr>
        <p:spPr>
          <a:xfrm>
            <a:off x="777240" y="3589020"/>
            <a:ext cx="731520" cy="73152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4" name="Image 2" descr="icons/mobi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" y="3779215"/>
            <a:ext cx="351130" cy="35113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3447288"/>
            <a:ext cx="402336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simple, responsive dashboard accessible on any device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0" y="333756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3EEFC"/>
          </a:solidFill>
          <a:ln/>
        </p:spPr>
      </p:sp>
      <p:sp>
        <p:nvSpPr>
          <p:cNvPr id="17" name="Shape 12"/>
          <p:cNvSpPr/>
          <p:nvPr/>
        </p:nvSpPr>
        <p:spPr>
          <a:xfrm>
            <a:off x="6629400" y="3589020"/>
            <a:ext cx="731520" cy="73152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8" name="Image 3" descr="icons/us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9595" y="3779215"/>
            <a:ext cx="351130" cy="35113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543800" y="3447288"/>
            <a:ext cx="402336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commuter trust and reduce uncertainty in daily travel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Public Transport Tracking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flows from bus to browser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86588" y="210312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6D28D9"/>
          </a:solidFill>
          <a:ln/>
          <a:effectLst>
            <a:outerShdw sx="100000" sy="100000" kx="0" ky="0" algn="bl" rotWithShape="0" blurRad="127000" dist="38100" dir="5400000">
              <a:srgbClr val="3B0764">
                <a:alpha val="12000"/>
              </a:srgbClr>
            </a:outerShdw>
          </a:effectLst>
        </p:spPr>
      </p:sp>
      <p:pic>
        <p:nvPicPr>
          <p:cNvPr id="5" name="Image 0" descr="icons/satelli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8" y="25146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3748" y="3337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GPS Data Source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23748" y="3794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bus coordinates (lat/long)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964028" y="29718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061E8"/>
                </a:solidFill>
              </a:rPr>
              <a:t>→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466948" y="210312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4C1D95"/>
          </a:solidFill>
          <a:ln/>
          <a:effectLst>
            <a:outerShdw sx="100000" sy="100000" kx="0" ky="0" algn="bl" rotWithShape="0" blurRad="127000" dist="38100" dir="5400000">
              <a:srgbClr val="3B0764">
                <a:alpha val="12000"/>
              </a:srgbClr>
            </a:outerShdw>
          </a:effectLst>
        </p:spPr>
      </p:sp>
      <p:pic>
        <p:nvPicPr>
          <p:cNvPr id="10" name="Image 1" descr="icons/serv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5628" y="251460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04108" y="3337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 Backend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604108" y="3794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processes &amp; serves data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844388" y="29718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061E8"/>
                </a:solidFill>
              </a:rPr>
              <a:t>→</a:t>
            </a:r>
            <a:endParaRPr lang="en-US" sz="2600" dirty="0"/>
          </a:p>
        </p:txBody>
      </p:sp>
      <p:sp>
        <p:nvSpPr>
          <p:cNvPr id="14" name="Shape 10"/>
          <p:cNvSpPr/>
          <p:nvPr/>
        </p:nvSpPr>
        <p:spPr>
          <a:xfrm>
            <a:off x="6347308" y="210312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6D28D9"/>
          </a:solidFill>
          <a:ln/>
          <a:effectLst>
            <a:outerShdw sx="100000" sy="100000" kx="0" ky="0" algn="bl" rotWithShape="0" blurRad="127000" dist="38100" dir="5400000">
              <a:srgbClr val="3B0764">
                <a:alpha val="12000"/>
              </a:srgbClr>
            </a:outerShdw>
          </a:effectLst>
        </p:spPr>
      </p:sp>
      <p:pic>
        <p:nvPicPr>
          <p:cNvPr id="15" name="Image 2" descr="icons/brai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5988" y="251460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84468" y="3337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Model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484468" y="3794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delay_model.pkl predicts delay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8724748" y="29718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061E8"/>
                </a:solidFill>
              </a:rPr>
              <a:t>→</a:t>
            </a:r>
            <a:endParaRPr lang="en-US" sz="2600" dirty="0"/>
          </a:p>
        </p:txBody>
      </p:sp>
      <p:sp>
        <p:nvSpPr>
          <p:cNvPr id="19" name="Shape 14"/>
          <p:cNvSpPr/>
          <p:nvPr/>
        </p:nvSpPr>
        <p:spPr>
          <a:xfrm>
            <a:off x="9227668" y="210312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4C1D95"/>
          </a:solidFill>
          <a:ln/>
          <a:effectLst>
            <a:outerShdw sx="100000" sy="100000" kx="0" ky="0" algn="bl" rotWithShape="0" blurRad="127000" dist="38100" dir="5400000">
              <a:srgbClr val="3B0764">
                <a:alpha val="12000"/>
              </a:srgbClr>
            </a:outerShdw>
          </a:effectLst>
        </p:spPr>
      </p:sp>
      <p:pic>
        <p:nvPicPr>
          <p:cNvPr id="20" name="Image 3" descr="icons/laptop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6348" y="2514600"/>
            <a:ext cx="640080" cy="6400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364828" y="3337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Dashboard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9364828" y="3794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+ script.js display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1097280" y="502920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(transport_data.csv) train the model offline; the backend loads it to serve live predictions on each request.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Public Transport Tracking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frameworks used in this project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51760" cy="33832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9050">
            <a:solidFill>
              <a:srgbClr val="EDE4FB"/>
            </a:solidFill>
            <a:prstDash val="solid"/>
          </a:ln>
          <a:effectLst>
            <a:outerShdw sx="100000" sy="100000" kx="0" ky="0" algn="bl" rotWithShape="0" blurRad="127000" dist="38100" dir="5400000">
              <a:srgbClr val="3B076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20240"/>
            <a:ext cx="2651760" cy="109728"/>
          </a:xfrm>
          <a:prstGeom prst="rect">
            <a:avLst/>
          </a:prstGeom>
          <a:solidFill>
            <a:srgbClr val="F3EEFC"/>
          </a:solidFill>
          <a:ln/>
        </p:spPr>
      </p:sp>
      <p:sp>
        <p:nvSpPr>
          <p:cNvPr id="6" name="Shape 4"/>
          <p:cNvSpPr/>
          <p:nvPr/>
        </p:nvSpPr>
        <p:spPr>
          <a:xfrm>
            <a:off x="1508760" y="2331720"/>
            <a:ext cx="731520" cy="73152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7" name="Image 0" descr="icons/cod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8955" y="252191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246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7033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JavaScript (index.html, style.css, script.js) with Leaflet map integration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56432" y="1920240"/>
            <a:ext cx="2651760" cy="33832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9050">
            <a:solidFill>
              <a:srgbClr val="EDE4FB"/>
            </a:solidFill>
            <a:prstDash val="solid"/>
          </a:ln>
          <a:effectLst>
            <a:outerShdw sx="100000" sy="100000" kx="0" ky="0" algn="bl" rotWithShape="0" blurRad="127000" dist="38100" dir="5400000">
              <a:srgbClr val="3B0764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56432" y="1920240"/>
            <a:ext cx="2651760" cy="109728"/>
          </a:xfrm>
          <a:prstGeom prst="rect">
            <a:avLst/>
          </a:prstGeom>
          <a:solidFill>
            <a:srgbClr val="F3EEFC"/>
          </a:solidFill>
          <a:ln/>
        </p:spPr>
      </p:sp>
      <p:sp>
        <p:nvSpPr>
          <p:cNvPr id="12" name="Shape 9"/>
          <p:cNvSpPr/>
          <p:nvPr/>
        </p:nvSpPr>
        <p:spPr>
          <a:xfrm>
            <a:off x="4416552" y="2331720"/>
            <a:ext cx="731520" cy="73152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3" name="Image 1" descr="icons/serv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747" y="2521915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93592" y="3246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639312" y="37033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 (app.py) serving REST endpoints and model predictions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364224" y="1920240"/>
            <a:ext cx="2651760" cy="33832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9050">
            <a:solidFill>
              <a:srgbClr val="EDE4FB"/>
            </a:solidFill>
            <a:prstDash val="solid"/>
          </a:ln>
          <a:effectLst>
            <a:outerShdw sx="100000" sy="100000" kx="0" ky="0" algn="bl" rotWithShape="0" blurRad="127000" dist="38100" dir="5400000">
              <a:srgbClr val="3B0764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64224" y="1920240"/>
            <a:ext cx="2651760" cy="109728"/>
          </a:xfrm>
          <a:prstGeom prst="rect">
            <a:avLst/>
          </a:prstGeom>
          <a:solidFill>
            <a:srgbClr val="F3EEFC"/>
          </a:solidFill>
          <a:ln/>
        </p:spPr>
      </p:sp>
      <p:sp>
        <p:nvSpPr>
          <p:cNvPr id="18" name="Shape 14"/>
          <p:cNvSpPr/>
          <p:nvPr/>
        </p:nvSpPr>
        <p:spPr>
          <a:xfrm>
            <a:off x="7324344" y="2331720"/>
            <a:ext cx="731520" cy="73152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9" name="Image 2" descr="icons/brai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4539" y="2521915"/>
            <a:ext cx="351130" cy="35113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01384" y="3246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547104" y="37033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model (train_model.py, delay_model.pkl) for delay prediction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272016" y="1920240"/>
            <a:ext cx="2651760" cy="33832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9050">
            <a:solidFill>
              <a:srgbClr val="EDE4FB"/>
            </a:solidFill>
            <a:prstDash val="solid"/>
          </a:ln>
          <a:effectLst>
            <a:outerShdw sx="100000" sy="100000" kx="0" ky="0" algn="bl" rotWithShape="0" blurRad="127000" dist="38100" dir="5400000">
              <a:srgbClr val="3B0764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272016" y="1920240"/>
            <a:ext cx="2651760" cy="109728"/>
          </a:xfrm>
          <a:prstGeom prst="rect">
            <a:avLst/>
          </a:prstGeom>
          <a:solidFill>
            <a:srgbClr val="F3EEFC"/>
          </a:solidFill>
          <a:ln/>
        </p:spPr>
      </p:sp>
      <p:sp>
        <p:nvSpPr>
          <p:cNvPr id="24" name="Shape 19"/>
          <p:cNvSpPr/>
          <p:nvPr/>
        </p:nvSpPr>
        <p:spPr>
          <a:xfrm>
            <a:off x="10232136" y="2331720"/>
            <a:ext cx="731520" cy="73152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25" name="Image 3" descr="icons/databas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2331" y="2521915"/>
            <a:ext cx="351130" cy="35113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409176" y="3246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454896" y="37033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transport_data.csv — historical bus route and delay dataset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Public Transport Tracking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organization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863840" y="1691640"/>
            <a:ext cx="2673322" cy="4937760"/>
          </a:xfrm>
          <a:prstGeom prst="roundRect">
            <a:avLst>
              <a:gd name="adj" fmla="val 3420"/>
            </a:avLst>
          </a:prstGeom>
          <a:solidFill>
            <a:srgbClr val="2E1065"/>
          </a:solidFill>
          <a:ln/>
          <a:effectLst>
            <a:outerShdw sx="100000" sy="100000" kx="0" ky="0" algn="bl" rotWithShape="0" blurRad="127000" dist="38100" dir="5400000">
              <a:srgbClr val="3B0764">
                <a:alpha val="12000"/>
              </a:srgbClr>
            </a:outerShdw>
          </a:effectLst>
        </p:spPr>
      </p:sp>
      <p:pic>
        <p:nvPicPr>
          <p:cNvPr id="5" name="Image 0" descr="filestru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1874520"/>
            <a:ext cx="2216122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874520"/>
            <a:ext cx="640080" cy="64008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7" name="Image 1" descr="icons/cog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61" y="2040941"/>
            <a:ext cx="307238" cy="3072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8288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backend/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371600" y="213055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— Flask server, requirements.txt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2926080"/>
            <a:ext cx="640080" cy="64008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1" name="Image 2" descr="icons/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3092501"/>
            <a:ext cx="307238" cy="30723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28803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datasets/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371600" y="318211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transport_data.csv — training data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48640" y="3977640"/>
            <a:ext cx="640080" cy="64008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5" name="Image 3" descr="icons/laptop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1" y="4144061"/>
            <a:ext cx="307238" cy="30723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71600" y="39319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frontend/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1371600" y="423367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index.html, script.js, style.css — dashboard UI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548640" y="5029200"/>
            <a:ext cx="640080" cy="64008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9" name="Image 4" descr="icons/brai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61" y="5195621"/>
            <a:ext cx="307238" cy="30723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71600" y="4983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models/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1371600" y="528523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train_model.py, delay_model.pkl — ML pipeline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Public Transport Tracking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the delay prediction model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675120" cy="3749040"/>
          </a:xfrm>
          <a:prstGeom prst="roundRect">
            <a:avLst>
              <a:gd name="adj" fmla="val 2927"/>
            </a:avLst>
          </a:prstGeom>
          <a:solidFill>
            <a:srgbClr val="F3EE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0312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transport_data.csv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6035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number &amp; route identifiers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coordinates (latitude, longitude)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vs. actual arrival times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delay records (in minutes)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/ time-of-day features used for prediction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98080" y="1828800"/>
            <a:ext cx="4160520" cy="3749040"/>
          </a:xfrm>
          <a:prstGeom prst="roundRect">
            <a:avLst>
              <a:gd name="adj" fmla="val 2927"/>
            </a:avLst>
          </a:prstGeom>
          <a:solidFill>
            <a:srgbClr val="6D28D9"/>
          </a:solidFill>
          <a:ln/>
          <a:effectLst>
            <a:outerShdw sx="100000" sy="100000" kx="0" ky="0" algn="bl" rotWithShape="0" blurRad="127000" dist="38100" dir="5400000">
              <a:srgbClr val="3B0764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18120" y="219456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icons/database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2090" y="2408530"/>
            <a:ext cx="395021" cy="39502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818120" y="324612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3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dataset trains a supervised regression model that learns the relationship between route conditions and delay time.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Public Transport Tracking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 Prediction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at the core of the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F3EE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94560"/>
            <a:ext cx="777240" cy="77724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6" name="Image 0" descr="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239664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9933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Data Preparation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83080" y="23774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preprocess transport_data.csv — handle missing values, encode routes.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0" y="182880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F3EEFC"/>
          </a:solidFill>
          <a:ln/>
        </p:spPr>
      </p:sp>
      <p:sp>
        <p:nvSpPr>
          <p:cNvPr id="10" name="Shape 7"/>
          <p:cNvSpPr/>
          <p:nvPr/>
        </p:nvSpPr>
        <p:spPr>
          <a:xfrm>
            <a:off x="6675120" y="2194560"/>
            <a:ext cx="777240" cy="77724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1" name="Image 1" descr="icons/cog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7202" y="239664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19933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Model Training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635240" y="23774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train_model.py fits a regression model to learn delay patterns from historical trips.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61188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F3EEFC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3977640"/>
            <a:ext cx="777240" cy="77724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6" name="Image 2" descr="icons/brai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42" y="417972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37764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Model Export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783080" y="41605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 is serialized as delay_model.pkl for fast reuse.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0" y="361188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F3EEFC"/>
          </a:solidFill>
          <a:ln/>
        </p:spPr>
      </p:sp>
      <p:sp>
        <p:nvSpPr>
          <p:cNvPr id="20" name="Shape 15"/>
          <p:cNvSpPr/>
          <p:nvPr/>
        </p:nvSpPr>
        <p:spPr>
          <a:xfrm>
            <a:off x="6675120" y="3977640"/>
            <a:ext cx="777240" cy="77724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21" name="Image 3" descr="icons/cha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7202" y="417972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5240" y="37764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Live Prediction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635240" y="41605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 loads the .pkl file and predicts delay (e.g. 5.34 min) for each request.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Public Transport Tracking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— Flask API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serves live data to the dashboard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685800" cy="68580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5" name="Image 0" descr="icons/wifi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" y="2144268"/>
            <a:ext cx="329184" cy="3291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554480" y="1965960"/>
            <a:ext cx="9601200" cy="822960"/>
          </a:xfrm>
          <a:prstGeom prst="roundRect">
            <a:avLst>
              <a:gd name="adj" fmla="val 11111"/>
            </a:avLst>
          </a:prstGeom>
          <a:solidFill>
            <a:srgbClr val="F3EEFC"/>
          </a:solidFill>
          <a:ln/>
        </p:spPr>
      </p:sp>
      <p:sp>
        <p:nvSpPr>
          <p:cNvPr id="7" name="Text 4"/>
          <p:cNvSpPr/>
          <p:nvPr/>
        </p:nvSpPr>
        <p:spPr>
          <a:xfrm>
            <a:off x="1828800" y="1965960"/>
            <a:ext cx="9052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GPS ping / request from the frontend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2743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061E8"/>
                </a:solidFill>
              </a:rPr>
              <a:t>↓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3017520"/>
            <a:ext cx="685800" cy="685800"/>
          </a:xfrm>
          <a:prstGeom prst="ellipse">
            <a:avLst/>
          </a:prstGeom>
          <a:solidFill>
            <a:srgbClr val="4C1D95"/>
          </a:solidFill>
          <a:ln/>
        </p:spPr>
      </p:sp>
      <p:pic>
        <p:nvPicPr>
          <p:cNvPr id="10" name="Image 1" descr="icons/bra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" y="3195828"/>
            <a:ext cx="329184" cy="32918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554480" y="3017520"/>
            <a:ext cx="9601200" cy="822960"/>
          </a:xfrm>
          <a:prstGeom prst="roundRect">
            <a:avLst>
              <a:gd name="adj" fmla="val 11111"/>
            </a:avLst>
          </a:prstGeom>
          <a:solidFill>
            <a:srgbClr val="F3EEFC"/>
          </a:solidFill>
          <a:ln/>
        </p:spPr>
      </p:sp>
      <p:sp>
        <p:nvSpPr>
          <p:cNvPr id="12" name="Text 8"/>
          <p:cNvSpPr/>
          <p:nvPr/>
        </p:nvSpPr>
        <p:spPr>
          <a:xfrm>
            <a:off x="1828800" y="3017520"/>
            <a:ext cx="9052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delay_model.pkl and runs prediction on current route data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77240" y="37947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061E8"/>
                </a:solidFill>
              </a:rPr>
              <a:t>↓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40080" y="4069080"/>
            <a:ext cx="685800" cy="68580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5" name="Image 2" descr="icons/serv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" y="4247388"/>
            <a:ext cx="329184" cy="32918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554480" y="4069080"/>
            <a:ext cx="9601200" cy="822960"/>
          </a:xfrm>
          <a:prstGeom prst="roundRect">
            <a:avLst>
              <a:gd name="adj" fmla="val 11111"/>
            </a:avLst>
          </a:prstGeom>
          <a:solidFill>
            <a:srgbClr val="F3EEFC"/>
          </a:solidFill>
          <a:ln/>
        </p:spPr>
      </p:sp>
      <p:sp>
        <p:nvSpPr>
          <p:cNvPr id="17" name="Text 12"/>
          <p:cNvSpPr/>
          <p:nvPr/>
        </p:nvSpPr>
        <p:spPr>
          <a:xfrm>
            <a:off x="1828800" y="4069080"/>
            <a:ext cx="9052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a JSON response — bus number, coordinates, route, delay, status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777240" y="4846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061E8"/>
                </a:solidFill>
              </a:rPr>
              <a:t>↓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40080" y="5120640"/>
            <a:ext cx="685800" cy="685800"/>
          </a:xfrm>
          <a:prstGeom prst="ellipse">
            <a:avLst/>
          </a:prstGeom>
          <a:solidFill>
            <a:srgbClr val="4C1D95"/>
          </a:solidFill>
          <a:ln/>
        </p:spPr>
      </p:sp>
      <p:pic>
        <p:nvPicPr>
          <p:cNvPr id="20" name="Image 3" descr="icons/clou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" y="5298948"/>
            <a:ext cx="329184" cy="329184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1554480" y="5120640"/>
            <a:ext cx="9601200" cy="822960"/>
          </a:xfrm>
          <a:prstGeom prst="roundRect">
            <a:avLst>
              <a:gd name="adj" fmla="val 11111"/>
            </a:avLst>
          </a:prstGeom>
          <a:solidFill>
            <a:srgbClr val="F3EEFC"/>
          </a:solidFill>
          <a:ln/>
        </p:spPr>
      </p:sp>
      <p:sp>
        <p:nvSpPr>
          <p:cNvPr id="22" name="Text 16"/>
          <p:cNvSpPr/>
          <p:nvPr/>
        </p:nvSpPr>
        <p:spPr>
          <a:xfrm>
            <a:off x="1828800" y="5120640"/>
            <a:ext cx="9052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live response back to the dashboard for display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Public Transport Tracking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Dashboard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commuter sees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3EE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03120"/>
            <a:ext cx="594360" cy="59436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6" name="Image 0" descr="icons/bu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494" y="22576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7614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 Number Display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3063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shows the identifier of the tracked bus (e.g. TN-47 AB 1234)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3EEFC"/>
          </a:solidFill>
          <a:ln/>
        </p:spPr>
      </p:sp>
      <p:sp>
        <p:nvSpPr>
          <p:cNvPr id="10" name="Shape 7"/>
          <p:cNvSpPr/>
          <p:nvPr/>
        </p:nvSpPr>
        <p:spPr>
          <a:xfrm>
            <a:off x="4599432" y="2103120"/>
            <a:ext cx="594360" cy="59436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1" name="Image 1" descr="icons/ma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3966" y="22576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3712" y="27614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Map View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53712" y="3063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Leaflet map plotting real-time latitude &amp; longitude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3EEFC"/>
          </a:solidFill>
          <a:ln/>
        </p:spPr>
      </p:sp>
      <p:sp>
        <p:nvSpPr>
          <p:cNvPr id="15" name="Shape 11"/>
          <p:cNvSpPr/>
          <p:nvPr/>
        </p:nvSpPr>
        <p:spPr>
          <a:xfrm>
            <a:off x="8375904" y="2103120"/>
            <a:ext cx="594360" cy="59436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6" name="Image 2" descr="icons/rout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0438" y="225765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0184" y="27614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Information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330184" y="3063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start and end points of the current route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79476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3EEFC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4069080"/>
            <a:ext cx="594360" cy="59436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21" name="Image 3" descr="icons/clo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494" y="422361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7274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Predicted Delay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77240" y="5029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ML-predicted delay in minutes, updated on refresh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325112" y="379476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3EEFC"/>
          </a:solidFill>
          <a:ln/>
        </p:spPr>
      </p:sp>
      <p:sp>
        <p:nvSpPr>
          <p:cNvPr id="25" name="Shape 19"/>
          <p:cNvSpPr/>
          <p:nvPr/>
        </p:nvSpPr>
        <p:spPr>
          <a:xfrm>
            <a:off x="4599432" y="4069080"/>
            <a:ext cx="594360" cy="59436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26" name="Image 4" descr="icons/warning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3966" y="422361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53712" y="47274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Indicator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53712" y="5029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ON TIME / DELAYED badge for quick reading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101584" y="379476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3EEFC"/>
          </a:solidFill>
          <a:ln/>
        </p:spPr>
      </p:sp>
      <p:sp>
        <p:nvSpPr>
          <p:cNvPr id="30" name="Shape 23"/>
          <p:cNvSpPr/>
          <p:nvPr/>
        </p:nvSpPr>
        <p:spPr>
          <a:xfrm>
            <a:off x="8375904" y="4069080"/>
            <a:ext cx="594360" cy="59436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31" name="Image 5" descr="icons/mobil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0438" y="422361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30184" y="47274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 UI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330184" y="5029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layout built with HTML, CSS and JavaScript, works on any screen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Public Transport Tracking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10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4572000" cy="4572000"/>
          </a:xfrm>
          <a:prstGeom prst="ellipse">
            <a:avLst/>
          </a:prstGeom>
          <a:solidFill>
            <a:srgbClr val="4C1D95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Tracker dashboard in action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5168" y="1371600"/>
            <a:ext cx="10881360" cy="5400775"/>
          </a:xfrm>
          <a:prstGeom prst="roundRect">
            <a:avLst>
              <a:gd name="adj" fmla="val 13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B0764">
                <a:alpha val="12000"/>
              </a:srgbClr>
            </a:outerShdw>
          </a:effectLst>
        </p:spPr>
      </p:sp>
      <p:pic>
        <p:nvPicPr>
          <p:cNvPr id="6" name="Image 0" descr="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508760"/>
            <a:ext cx="10607040" cy="51264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Public Transport Tracking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methodology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1965960" cy="1965960"/>
          </a:xfrm>
          <a:prstGeom prst="ellipse">
            <a:avLst/>
          </a:prstGeom>
          <a:solidFill>
            <a:srgbClr val="6D28D9"/>
          </a:solidFill>
          <a:ln/>
          <a:effectLst>
            <a:outerShdw sx="100000" sy="100000" kx="0" ky="0" algn="bl" rotWithShape="0" blurRad="127000" dist="38100" dir="5400000">
              <a:srgbClr val="3B0764">
                <a:alpha val="12000"/>
              </a:srgbClr>
            </a:outerShdw>
          </a:effectLst>
        </p:spPr>
      </p:sp>
      <p:pic>
        <p:nvPicPr>
          <p:cNvPr id="5" name="Image 0" descr="icons/satelli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" y="294894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7548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Input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514600" y="3634740"/>
            <a:ext cx="316154" cy="0"/>
          </a:xfrm>
          <a:prstGeom prst="line">
            <a:avLst/>
          </a:prstGeom>
          <a:noFill/>
          <a:ln w="25400">
            <a:solidFill>
              <a:srgbClr val="9061E8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2830754" y="2651760"/>
            <a:ext cx="1965960" cy="1965960"/>
          </a:xfrm>
          <a:prstGeom prst="ellipse">
            <a:avLst/>
          </a:prstGeom>
          <a:solidFill>
            <a:srgbClr val="6D28D9"/>
          </a:solidFill>
          <a:ln/>
          <a:effectLst>
            <a:outerShdw sx="100000" sy="100000" kx="0" ky="0" algn="bl" rotWithShape="0" blurRad="127000" dist="38100" dir="5400000">
              <a:srgbClr val="3B0764">
                <a:alpha val="12000"/>
              </a:srgbClr>
            </a:outerShdw>
          </a:effectLst>
        </p:spPr>
      </p:sp>
      <p:pic>
        <p:nvPicPr>
          <p:cNvPr id="9" name="Image 1" descr="icons/wifi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974" y="2948940"/>
            <a:ext cx="731520" cy="731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56434" y="47548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Sent to Flask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796714" y="3634740"/>
            <a:ext cx="316154" cy="0"/>
          </a:xfrm>
          <a:prstGeom prst="line">
            <a:avLst/>
          </a:prstGeom>
          <a:noFill/>
          <a:ln w="25400">
            <a:solidFill>
              <a:srgbClr val="9061E8"/>
            </a:solidFill>
            <a:prstDash val="dash"/>
          </a:ln>
        </p:spPr>
      </p:sp>
      <p:sp>
        <p:nvSpPr>
          <p:cNvPr id="12" name="Shape 8"/>
          <p:cNvSpPr/>
          <p:nvPr/>
        </p:nvSpPr>
        <p:spPr>
          <a:xfrm>
            <a:off x="5112868" y="2651760"/>
            <a:ext cx="1965960" cy="1965960"/>
          </a:xfrm>
          <a:prstGeom prst="ellipse">
            <a:avLst/>
          </a:prstGeom>
          <a:solidFill>
            <a:srgbClr val="6D28D9"/>
          </a:solidFill>
          <a:ln/>
          <a:effectLst>
            <a:outerShdw sx="100000" sy="100000" kx="0" ky="0" algn="bl" rotWithShape="0" blurRad="127000" dist="38100" dir="5400000">
              <a:srgbClr val="3B0764">
                <a:alpha val="12000"/>
              </a:srgbClr>
            </a:outerShdw>
          </a:effectLst>
        </p:spPr>
      </p:sp>
      <p:pic>
        <p:nvPicPr>
          <p:cNvPr id="13" name="Image 2" descr="icons/brai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088" y="2948940"/>
            <a:ext cx="731520" cy="7315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38548" y="47548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Predicts Delay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7078828" y="3634740"/>
            <a:ext cx="316154" cy="0"/>
          </a:xfrm>
          <a:prstGeom prst="line">
            <a:avLst/>
          </a:prstGeom>
          <a:noFill/>
          <a:ln w="25400">
            <a:solidFill>
              <a:srgbClr val="9061E8"/>
            </a:solidFill>
            <a:prstDash val="dash"/>
          </a:ln>
        </p:spPr>
      </p:sp>
      <p:sp>
        <p:nvSpPr>
          <p:cNvPr id="16" name="Shape 11"/>
          <p:cNvSpPr/>
          <p:nvPr/>
        </p:nvSpPr>
        <p:spPr>
          <a:xfrm>
            <a:off x="7394981" y="2651760"/>
            <a:ext cx="1965960" cy="1965960"/>
          </a:xfrm>
          <a:prstGeom prst="ellipse">
            <a:avLst/>
          </a:prstGeom>
          <a:solidFill>
            <a:srgbClr val="6D28D9"/>
          </a:solidFill>
          <a:ln/>
          <a:effectLst>
            <a:outerShdw sx="100000" sy="100000" kx="0" ky="0" algn="bl" rotWithShape="0" blurRad="127000" dist="38100" dir="5400000">
              <a:srgbClr val="3B0764">
                <a:alpha val="12000"/>
              </a:srgbClr>
            </a:outerShdw>
          </a:effectLst>
        </p:spPr>
      </p:sp>
      <p:pic>
        <p:nvPicPr>
          <p:cNvPr id="17" name="Image 3" descr="icons/map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2201" y="2948940"/>
            <a:ext cx="731520" cy="7315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20661" y="47548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Updates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9360941" y="3634740"/>
            <a:ext cx="316154" cy="0"/>
          </a:xfrm>
          <a:prstGeom prst="line">
            <a:avLst/>
          </a:prstGeom>
          <a:noFill/>
          <a:ln w="25400">
            <a:solidFill>
              <a:srgbClr val="9061E8"/>
            </a:solidFill>
            <a:prstDash val="dash"/>
          </a:ln>
        </p:spPr>
      </p:sp>
      <p:sp>
        <p:nvSpPr>
          <p:cNvPr id="20" name="Shape 14"/>
          <p:cNvSpPr/>
          <p:nvPr/>
        </p:nvSpPr>
        <p:spPr>
          <a:xfrm>
            <a:off x="9677095" y="2651760"/>
            <a:ext cx="1965960" cy="1965960"/>
          </a:xfrm>
          <a:prstGeom prst="ellipse">
            <a:avLst/>
          </a:prstGeom>
          <a:solidFill>
            <a:srgbClr val="9061E8"/>
          </a:solidFill>
          <a:ln/>
          <a:effectLst>
            <a:outerShdw sx="100000" sy="100000" kx="0" ky="0" algn="bl" rotWithShape="0" blurRad="127000" dist="38100" dir="5400000">
              <a:srgbClr val="3B0764">
                <a:alpha val="12000"/>
              </a:srgbClr>
            </a:outerShdw>
          </a:effectLst>
        </p:spPr>
      </p:sp>
      <p:pic>
        <p:nvPicPr>
          <p:cNvPr id="21" name="Image 4" descr="icons/user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4315" y="2948940"/>
            <a:ext cx="731520" cy="7315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402775" y="47548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Commuter Informed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1097280" y="521208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triggers a new request cycle — the map, delay, and status update live without reloading the page.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Public Transport Tracking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solution fits small cities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3EE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40280"/>
            <a:ext cx="777240" cy="77724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6" name="Image 0" descr="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244236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11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Low-Cost Deployment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83080" y="2423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open-source tools — no expensive infrastructure required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0" y="182880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3EEFC"/>
          </a:solidFill>
          <a:ln/>
        </p:spPr>
      </p:sp>
      <p:sp>
        <p:nvSpPr>
          <p:cNvPr id="10" name="Shape 7"/>
          <p:cNvSpPr/>
          <p:nvPr/>
        </p:nvSpPr>
        <p:spPr>
          <a:xfrm>
            <a:off x="6675120" y="2240280"/>
            <a:ext cx="777240" cy="77724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1" name="Image 1" descr="icons/cha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7202" y="244236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2011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Predictive, Not Just Reactive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635240" y="2423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delay prediction gives commuters advance warning, not just current position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0332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3EEFC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114800"/>
            <a:ext cx="777240" cy="77724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6" name="Image 2" descr="icons/mobi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42" y="431688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3886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Lightweight &amp; Accessible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783080" y="42976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web dashboard runs on any browser or basic smartphone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0" y="370332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3EEFC"/>
          </a:solidFill>
          <a:ln/>
        </p:spPr>
      </p:sp>
      <p:sp>
        <p:nvSpPr>
          <p:cNvPr id="20" name="Shape 15"/>
          <p:cNvSpPr/>
          <p:nvPr/>
        </p:nvSpPr>
        <p:spPr>
          <a:xfrm>
            <a:off x="6675120" y="4114800"/>
            <a:ext cx="777240" cy="77724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21" name="Image 3" descr="icons/rocke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7202" y="431688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5240" y="3886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Scalable Design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635240" y="42976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backend/frontend/model structure makes it easy to extend to more routes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Public Transport Tracking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project can go next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640080" cy="64008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5" name="Image 0" descr="icons/satelli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20866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8288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GPS hardware integration on live buses instead of simulated data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2880360"/>
            <a:ext cx="640080" cy="640080"/>
          </a:xfrm>
          <a:prstGeom prst="ellipse">
            <a:avLst/>
          </a:prstGeom>
          <a:solidFill>
            <a:srgbClr val="4C1D95"/>
          </a:solidFill>
          <a:ln/>
        </p:spPr>
      </p:sp>
      <p:pic>
        <p:nvPicPr>
          <p:cNvPr id="8" name="Image 1" descr="icons/mobi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01" y="3046781"/>
            <a:ext cx="307238" cy="30723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7889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Android/iOS app with push notifications for delays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40080" y="3840480"/>
            <a:ext cx="640080" cy="64008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1" name="Image 2" descr="icons/brai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1" y="4006901"/>
            <a:ext cx="307238" cy="30723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54480" y="3749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ML models (LSTM/time-series) for more accurate delay forecasting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40080" y="4800600"/>
            <a:ext cx="640080" cy="640080"/>
          </a:xfrm>
          <a:prstGeom prst="ellipse">
            <a:avLst/>
          </a:prstGeom>
          <a:solidFill>
            <a:srgbClr val="4C1D95"/>
          </a:solidFill>
          <a:ln/>
        </p:spPr>
      </p:sp>
      <p:pic>
        <p:nvPicPr>
          <p:cNvPr id="14" name="Image 3" descr="icons/us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1" y="4967021"/>
            <a:ext cx="307238" cy="30723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54480" y="47091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Multi-route, multi-city support with a unified transport authority dashboard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Public Transport Tracking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E10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4C1D95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5029200" cy="5029200"/>
          </a:xfrm>
          <a:prstGeom prst="ellipse">
            <a:avLst/>
          </a:prstGeom>
          <a:solidFill>
            <a:srgbClr val="6D28D9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1371600"/>
            <a:ext cx="1005840" cy="100584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5" name="Image 0" descr="icons/bu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4446" y="1633118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74320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0" y="34290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Public Transport Tracking for Small Cities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632808" y="4114800"/>
            <a:ext cx="2926080" cy="0"/>
          </a:xfrm>
          <a:prstGeom prst="line">
            <a:avLst/>
          </a:prstGeom>
          <a:noFill/>
          <a:ln w="12700">
            <a:solidFill>
              <a:srgbClr val="5B21B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429768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9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V.S.B Engineering College — Department of AI &amp; ML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9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by: MIDHUN 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Public Transport Tracking for Small Cities</dc:title>
  <dc:subject>PptxGenJS Presentation</dc:subject>
  <dc:creator>Midhun S</dc:creator>
  <cp:lastModifiedBy>Midhun S</cp:lastModifiedBy>
  <cp:revision>1</cp:revision>
  <dcterms:created xsi:type="dcterms:W3CDTF">2026-07-06T05:30:49Z</dcterms:created>
  <dcterms:modified xsi:type="dcterms:W3CDTF">2026-07-06T05:30:49Z</dcterms:modified>
</cp:coreProperties>
</file>